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24" r:id="rId5"/>
    <p:sldId id="302" r:id="rId6"/>
    <p:sldId id="315" r:id="rId7"/>
    <p:sldId id="327" r:id="rId8"/>
    <p:sldId id="329" r:id="rId9"/>
    <p:sldId id="328" r:id="rId10"/>
    <p:sldId id="330" r:id="rId11"/>
    <p:sldId id="331" r:id="rId12"/>
    <p:sldId id="294" r:id="rId13"/>
    <p:sldId id="295" r:id="rId14"/>
    <p:sldId id="332" r:id="rId15"/>
    <p:sldId id="333" r:id="rId16"/>
    <p:sldId id="310" r:id="rId17"/>
    <p:sldId id="334" r:id="rId18"/>
    <p:sldId id="31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udipta\OneDrive\CoachX-Jan-2026\Projects%20Excel\Project-1(Depreciation-Calculator-Excel).xlsx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789467739126756E-3"/>
          <c:y val="0.56080794248545018"/>
          <c:w val="8.3484616724164712E-2"/>
          <c:h val="0.34000660243556519"/>
        </c:manualLayout>
      </c:layout>
      <c:barChart>
        <c:barDir val="col"/>
        <c:grouping val="clustered"/>
        <c:varyColors val="0"/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111705064"/>
        <c:axId val="1111706704"/>
      </c:barChart>
      <c:catAx>
        <c:axId val="1111705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1706704"/>
        <c:crosses val="autoZero"/>
        <c:auto val="1"/>
        <c:lblAlgn val="ctr"/>
        <c:lblOffset val="100"/>
        <c:noMultiLvlLbl val="0"/>
      </c:catAx>
      <c:valAx>
        <c:axId val="11117067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117050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911946571532115"/>
          <c:y val="0.90002543160365811"/>
          <c:w val="0.2176105915630839"/>
          <c:h val="5.24241309308262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52755905511811"/>
          <c:y val="0.15319444444444447"/>
          <c:w val="0.83972440944881888"/>
          <c:h val="0.61498432487605714"/>
        </c:manualLayout>
      </c:layout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Straight-Line Book Value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Sheet2!$A$2:$A$12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Sheet2!$B$2:$B$12</c:f>
              <c:numCache>
                <c:formatCode>#,##0</c:formatCode>
                <c:ptCount val="11"/>
                <c:pt idx="0">
                  <c:v>500000</c:v>
                </c:pt>
                <c:pt idx="1">
                  <c:v>455000</c:v>
                </c:pt>
                <c:pt idx="2">
                  <c:v>410000</c:v>
                </c:pt>
                <c:pt idx="3">
                  <c:v>365000</c:v>
                </c:pt>
                <c:pt idx="4">
                  <c:v>320000</c:v>
                </c:pt>
                <c:pt idx="5">
                  <c:v>275000</c:v>
                </c:pt>
                <c:pt idx="6">
                  <c:v>230000</c:v>
                </c:pt>
                <c:pt idx="7">
                  <c:v>185000</c:v>
                </c:pt>
                <c:pt idx="8">
                  <c:v>140000</c:v>
                </c:pt>
                <c:pt idx="9">
                  <c:v>95000</c:v>
                </c:pt>
                <c:pt idx="10">
                  <c:v>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26-4B40-87BD-9A502950289E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Diminishing Balance Book Value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Sheet2!$A$2:$A$12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Sheet2!$C$2:$C$12</c:f>
              <c:numCache>
                <c:formatCode>#,##0</c:formatCode>
                <c:ptCount val="11"/>
                <c:pt idx="0">
                  <c:v>500000</c:v>
                </c:pt>
                <c:pt idx="1">
                  <c:v>397164</c:v>
                </c:pt>
                <c:pt idx="2">
                  <c:v>294328</c:v>
                </c:pt>
                <c:pt idx="3">
                  <c:v>233793</c:v>
                </c:pt>
                <c:pt idx="4">
                  <c:v>185709</c:v>
                </c:pt>
                <c:pt idx="5">
                  <c:v>147514</c:v>
                </c:pt>
                <c:pt idx="6">
                  <c:v>117174</c:v>
                </c:pt>
                <c:pt idx="7">
                  <c:v>93075</c:v>
                </c:pt>
                <c:pt idx="8">
                  <c:v>73932</c:v>
                </c:pt>
                <c:pt idx="9">
                  <c:v>58726</c:v>
                </c:pt>
                <c:pt idx="10">
                  <c:v>46648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226-4B40-87BD-9A50295028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05545247"/>
        <c:axId val="1705546207"/>
      </c:lineChart>
      <c:catAx>
        <c:axId val="1705545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546207"/>
        <c:crosses val="autoZero"/>
        <c:auto val="1"/>
        <c:lblAlgn val="ctr"/>
        <c:lblOffset val="100"/>
        <c:noMultiLvlLbl val="0"/>
      </c:catAx>
      <c:valAx>
        <c:axId val="1705546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545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3/4/2026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5E194-CCC8-9EA9-9755-DC715F49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823C3-051B-D118-BC52-8989D5E5F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C5184-1F56-765E-8E24-62963171C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8BE2C-5799-E53B-4A3F-B936643B5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0573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C0755-F3CA-16E5-2EBB-79D161BD2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AA9F2-35A1-330E-963B-E6F620296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6CFD30-F99E-9E85-8250-2F3C111E2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220FE-5C4A-E482-69BE-4178EF535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92998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3/4/2026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13" y="2621972"/>
            <a:ext cx="5086277" cy="1650425"/>
          </a:xfrm>
        </p:spPr>
        <p:txBody>
          <a:bodyPr/>
          <a:lstStyle/>
          <a:p>
            <a:r>
              <a:rPr lang="en-US" sz="2000" dirty="0"/>
              <a:t>Comparative Analysis of Depreciation Methods: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Straight-Line vs. Diminishing Balance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u="sng" dirty="0" err="1"/>
              <a:t>Coachx.live</a:t>
            </a:r>
            <a:endParaRPr lang="en-IN" b="0" u="sng" dirty="0">
              <a:solidFill>
                <a:srgbClr val="FFFF00"/>
              </a:solidFill>
              <a:latin typeface="Lucida Calligraphy" panose="03010101010101010101" pitchFamily="66" charset="0"/>
            </a:endParaRPr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39613" y="4504316"/>
            <a:ext cx="4482169" cy="1249213"/>
          </a:xfrm>
        </p:spPr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Coachx.live</a:t>
            </a:r>
            <a:r>
              <a:rPr lang="en-US" dirty="0"/>
              <a:t> Depreciation Calculator</a:t>
            </a:r>
          </a:p>
          <a:p>
            <a:r>
              <a:rPr lang="en-US" dirty="0"/>
              <a:t>March,04,2026</a:t>
            </a:r>
          </a:p>
          <a:p>
            <a:endParaRPr lang="en-US" dirty="0"/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1258529"/>
            <a:ext cx="5966542" cy="4090219"/>
          </a:xfrm>
        </p:spPr>
        <p:txBody>
          <a:bodyPr/>
          <a:lstStyle/>
          <a:p>
            <a:r>
              <a:rPr lang="en-US" sz="1400" dirty="0"/>
              <a:t>Introduction</a:t>
            </a:r>
          </a:p>
          <a:p>
            <a:r>
              <a:rPr lang="en-IN" sz="1400" dirty="0"/>
              <a:t>Methodologies</a:t>
            </a:r>
          </a:p>
          <a:p>
            <a:r>
              <a:rPr lang="en-IN" sz="1400" dirty="0"/>
              <a:t>Straight-Line Results</a:t>
            </a:r>
          </a:p>
          <a:p>
            <a:r>
              <a:rPr lang="en-US" sz="1400" dirty="0"/>
              <a:t>Diminishing Balance Results (Initial Years)</a:t>
            </a:r>
          </a:p>
          <a:p>
            <a:r>
              <a:rPr lang="en-US" sz="1400" dirty="0"/>
              <a:t>Diminishing Balance Results (Later Years)</a:t>
            </a:r>
          </a:p>
          <a:p>
            <a:r>
              <a:rPr lang="en-US" sz="1400" dirty="0"/>
              <a:t>Graphical Comparison of Depreciation Methods</a:t>
            </a:r>
          </a:p>
          <a:p>
            <a:r>
              <a:rPr lang="en-IN" sz="1400" dirty="0"/>
              <a:t>Key Findings</a:t>
            </a:r>
          </a:p>
          <a:p>
            <a:r>
              <a:rPr lang="en-IN" sz="1400" dirty="0"/>
              <a:t>Insights</a:t>
            </a:r>
          </a:p>
          <a:p>
            <a:r>
              <a:rPr lang="en-IN" sz="1400" dirty="0"/>
              <a:t>Actionable Recommendations</a:t>
            </a:r>
          </a:p>
          <a:p>
            <a:r>
              <a:rPr lang="en-IN" sz="1400" dirty="0"/>
              <a:t>Comparative Summary</a:t>
            </a:r>
          </a:p>
          <a:p>
            <a:r>
              <a:rPr lang="en-IN" sz="1400" dirty="0"/>
              <a:t>Conclusion</a:t>
            </a:r>
          </a:p>
        </p:txBody>
      </p:sp>
      <p:pic>
        <p:nvPicPr>
          <p:cNvPr id="11" name="Picture Placeholder 10" descr="close up of building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5351" r="1535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Introduction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1248698"/>
            <a:ext cx="5937044" cy="43567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Depreciation is the systematic allocation of the cost of a tangible asset over its useful life. It reflects the reduction in value of an asset as it is used over time.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D9D9D9"/>
                </a:highlight>
              </a:rPr>
              <a:t>Case Asset Details:</a:t>
            </a:r>
          </a:p>
          <a:p>
            <a:r>
              <a:rPr lang="en-US" sz="1800" dirty="0"/>
              <a:t>Asset Cost: $4,50,000</a:t>
            </a:r>
          </a:p>
          <a:p>
            <a:r>
              <a:rPr lang="en-US" sz="1800" dirty="0"/>
              <a:t>Additional Cost: $50,000</a:t>
            </a:r>
          </a:p>
          <a:p>
            <a:r>
              <a:rPr lang="en-US" sz="1800" dirty="0"/>
              <a:t>Total Asset Price: $5,00,000</a:t>
            </a:r>
          </a:p>
          <a:p>
            <a:r>
              <a:rPr lang="en-US" sz="1800" dirty="0"/>
              <a:t>Scrap Value: $50,000</a:t>
            </a:r>
          </a:p>
          <a:p>
            <a:r>
              <a:rPr lang="en-US" sz="1800" dirty="0"/>
              <a:t>Estimated Life: 10 Years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D9D9D9"/>
                </a:highlight>
              </a:rPr>
              <a:t>Methods Compared:</a:t>
            </a:r>
          </a:p>
          <a:p>
            <a:r>
              <a:rPr lang="en-US" sz="1800" dirty="0"/>
              <a:t>Straight-Line Method</a:t>
            </a:r>
          </a:p>
          <a:p>
            <a:r>
              <a:rPr lang="en-US" sz="1800" dirty="0"/>
              <a:t>Diminishing Balance Method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</a:t>
            </a:r>
          </a:p>
        </p:txBody>
      </p:sp>
      <p:pic>
        <p:nvPicPr>
          <p:cNvPr id="4" name="Picture Placeholder 3" descr="close up of building">
            <a:extLst>
              <a:ext uri="{FF2B5EF4-FFF2-40B4-BE49-F238E27FC236}">
                <a16:creationId xmlns:a16="http://schemas.microsoft.com/office/drawing/2014/main" id="{5EAB7860-C105-46A8-8B51-C886DCFAB5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2544" r="2254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FDC9DF-D8F8-E385-8529-990971E786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Formula:</a:t>
            </a:r>
            <a:br>
              <a:rPr lang="en-US" dirty="0"/>
            </a:br>
            <a:r>
              <a:rPr lang="en-US" dirty="0"/>
              <a:t>(Cost – Scrap Value) ÷ Useful Life</a:t>
            </a:r>
          </a:p>
          <a:p>
            <a:r>
              <a:rPr lang="en-US" dirty="0"/>
              <a:t>Depreciation per year:</a:t>
            </a:r>
            <a:br>
              <a:rPr lang="en-US" dirty="0"/>
            </a:br>
            <a:r>
              <a:rPr lang="en-US" dirty="0"/>
              <a:t>(5,00,000 – 50,000) ÷ 10 = </a:t>
            </a:r>
            <a:r>
              <a:rPr lang="en-US" b="1" dirty="0"/>
              <a:t>$45,000 per year</a:t>
            </a:r>
            <a:endParaRPr lang="en-US" dirty="0"/>
          </a:p>
          <a:p>
            <a:r>
              <a:rPr lang="en-US" dirty="0"/>
              <a:t>Depreciation Rate: </a:t>
            </a:r>
            <a:r>
              <a:rPr lang="en-US" b="1" dirty="0"/>
              <a:t>9%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7A6778-9F0A-6E50-29FD-C2E3BFFCD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highlight>
                  <a:srgbClr val="D9D9D9"/>
                </a:highlight>
              </a:rPr>
              <a:t>Straight-Line Method</a:t>
            </a:r>
          </a:p>
        </p:txBody>
      </p:sp>
      <p:pic>
        <p:nvPicPr>
          <p:cNvPr id="12" name="Picture Placeholder 3" descr="close up of building">
            <a:extLst>
              <a:ext uri="{FF2B5EF4-FFF2-40B4-BE49-F238E27FC236}">
                <a16:creationId xmlns:a16="http://schemas.microsoft.com/office/drawing/2014/main" id="{72F8E4F0-7F4B-A364-6F60-0EC95A0D35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44" r="22544"/>
          <a:stretch>
            <a:fillRect/>
          </a:stretch>
        </p:blipFill>
        <p:spPr>
          <a:xfrm>
            <a:off x="7016485" y="732482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26094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A5C41-0168-993E-5FD9-FB28737D8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06CF8E-D1A5-46ED-3523-F94B34F1BE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Annual Depreciation: </a:t>
            </a:r>
            <a:r>
              <a:rPr lang="en-US" b="1" dirty="0"/>
              <a:t>$45,000</a:t>
            </a:r>
            <a:endParaRPr lang="en-US" dirty="0"/>
          </a:p>
          <a:p>
            <a:r>
              <a:rPr lang="en-US" dirty="0"/>
              <a:t>Total Depreciation (10 years): </a:t>
            </a:r>
            <a:r>
              <a:rPr lang="en-US" b="1" dirty="0"/>
              <a:t>$4,50,000</a:t>
            </a:r>
            <a:endParaRPr lang="en-US" dirty="0"/>
          </a:p>
          <a:p>
            <a:r>
              <a:rPr lang="en-US" dirty="0"/>
              <a:t>Final Book Value: </a:t>
            </a:r>
            <a:r>
              <a:rPr lang="en-US" b="1" dirty="0"/>
              <a:t>$50,000</a:t>
            </a:r>
            <a:endParaRPr lang="en-US" dirty="0"/>
          </a:p>
          <a:p>
            <a:r>
              <a:rPr lang="en-US" dirty="0"/>
              <a:t>Balance Amount: </a:t>
            </a:r>
            <a:r>
              <a:rPr lang="en-US" b="1" dirty="0"/>
              <a:t>$0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1) Expense remains constant every year.</a:t>
            </a:r>
            <a:br>
              <a:rPr lang="en-US" dirty="0"/>
            </a:br>
            <a:r>
              <a:rPr lang="en-US" dirty="0"/>
              <a:t>2) Book value decreases uniformly.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DEEFA4-50A5-4676-232C-5CC1E7D0B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highlight>
                  <a:srgbClr val="D9D9D9"/>
                </a:highlight>
              </a:rPr>
              <a:t>Straight-Line Results</a:t>
            </a:r>
          </a:p>
        </p:txBody>
      </p:sp>
      <p:pic>
        <p:nvPicPr>
          <p:cNvPr id="12" name="Picture Placeholder 3" descr="close up of building">
            <a:extLst>
              <a:ext uri="{FF2B5EF4-FFF2-40B4-BE49-F238E27FC236}">
                <a16:creationId xmlns:a16="http://schemas.microsoft.com/office/drawing/2014/main" id="{A19CE39F-606F-210C-8601-4B17B5FE12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44" r="22544"/>
          <a:stretch>
            <a:fillRect/>
          </a:stretch>
        </p:blipFill>
        <p:spPr>
          <a:xfrm>
            <a:off x="7016485" y="732482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5232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ACDFE-BB7C-06E8-AE33-07BC6CB7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EAE110-940F-0FFB-C7F9-FFACA2AF41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Fixed rate applied to reducing book value</a:t>
            </a:r>
          </a:p>
          <a:p>
            <a:r>
              <a:rPr lang="en-IN" dirty="0"/>
              <a:t>Calculated Rate: </a:t>
            </a:r>
            <a:r>
              <a:rPr lang="en-IN" b="1" dirty="0"/>
              <a:t>20.57%</a:t>
            </a:r>
          </a:p>
          <a:p>
            <a:r>
              <a:rPr lang="en-US" dirty="0"/>
              <a:t>Higher depreciation in initial years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C06972-787F-7ED7-E32B-32361F0AB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highlight>
                  <a:srgbClr val="D9D9D9"/>
                </a:highlight>
              </a:rPr>
              <a:t>Diminishing Balance Method</a:t>
            </a:r>
          </a:p>
        </p:txBody>
      </p:sp>
      <p:pic>
        <p:nvPicPr>
          <p:cNvPr id="12" name="Picture Placeholder 3" descr="close up of building">
            <a:extLst>
              <a:ext uri="{FF2B5EF4-FFF2-40B4-BE49-F238E27FC236}">
                <a16:creationId xmlns:a16="http://schemas.microsoft.com/office/drawing/2014/main" id="{0F232CA0-9F04-639E-A33D-1B3FDD20BC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44" r="22544"/>
          <a:stretch>
            <a:fillRect/>
          </a:stretch>
        </p:blipFill>
        <p:spPr>
          <a:xfrm>
            <a:off x="7016485" y="732482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3865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2DFD9-77B7-E741-7CA4-4E90B9526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704BC0-F9BA-C114-6146-23488F749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605639" cy="830997"/>
          </a:xfrm>
        </p:spPr>
        <p:txBody>
          <a:bodyPr/>
          <a:lstStyle/>
          <a:p>
            <a:r>
              <a:rPr lang="en-US" sz="2800" dirty="0">
                <a:highlight>
                  <a:srgbClr val="D9D9D9"/>
                </a:highlight>
              </a:rPr>
              <a:t>Diminishing Balance Results (Initial Years)</a:t>
            </a:r>
            <a:endParaRPr lang="en-IN" sz="2800" dirty="0">
              <a:highlight>
                <a:srgbClr val="D9D9D9"/>
              </a:highlight>
            </a:endParaRPr>
          </a:p>
        </p:txBody>
      </p:sp>
      <p:pic>
        <p:nvPicPr>
          <p:cNvPr id="12" name="Picture Placeholder 3" descr="close up of building">
            <a:extLst>
              <a:ext uri="{FF2B5EF4-FFF2-40B4-BE49-F238E27FC236}">
                <a16:creationId xmlns:a16="http://schemas.microsoft.com/office/drawing/2014/main" id="{4FE0122F-7D30-B897-61FE-DCB82CFF8E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44" r="22544"/>
          <a:stretch>
            <a:fillRect/>
          </a:stretch>
        </p:blipFill>
        <p:spPr>
          <a:xfrm>
            <a:off x="7016485" y="732482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89C8D5-0194-D64C-EF3A-BFD7F7BE3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588929"/>
              </p:ext>
            </p:extLst>
          </p:nvPr>
        </p:nvGraphicFramePr>
        <p:xfrm>
          <a:off x="734144" y="1708941"/>
          <a:ext cx="5784643" cy="3389634"/>
        </p:xfrm>
        <a:graphic>
          <a:graphicData uri="http://schemas.openxmlformats.org/drawingml/2006/table">
            <a:tbl>
              <a:tblPr>
                <a:tableStyleId>{8FD4443E-F989-4FC4-A0C8-D5A2AF1F390B}</a:tableStyleId>
              </a:tblPr>
              <a:tblGrid>
                <a:gridCol w="966837">
                  <a:extLst>
                    <a:ext uri="{9D8B030D-6E8A-4147-A177-3AD203B41FA5}">
                      <a16:colId xmlns:a16="http://schemas.microsoft.com/office/drawing/2014/main" val="857439032"/>
                    </a:ext>
                  </a:extLst>
                </a:gridCol>
                <a:gridCol w="2349909">
                  <a:extLst>
                    <a:ext uri="{9D8B030D-6E8A-4147-A177-3AD203B41FA5}">
                      <a16:colId xmlns:a16="http://schemas.microsoft.com/office/drawing/2014/main" val="2545093313"/>
                    </a:ext>
                  </a:extLst>
                </a:gridCol>
                <a:gridCol w="2467897">
                  <a:extLst>
                    <a:ext uri="{9D8B030D-6E8A-4147-A177-3AD203B41FA5}">
                      <a16:colId xmlns:a16="http://schemas.microsoft.com/office/drawing/2014/main" val="3056115581"/>
                    </a:ext>
                  </a:extLst>
                </a:gridCol>
              </a:tblGrid>
              <a:tr h="56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Depreciation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Book</a:t>
                      </a:r>
                      <a:r>
                        <a:rPr lang="en-IN" b="1" dirty="0"/>
                        <a:t>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92177"/>
                  </a:ext>
                </a:extLst>
              </a:tr>
              <a:tr h="56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$1,02,835.88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$3,97,164.12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716574"/>
                  </a:ext>
                </a:extLst>
              </a:tr>
              <a:tr h="56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$60,535.01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$2,94,328.23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099234"/>
                  </a:ext>
                </a:extLst>
              </a:tr>
              <a:tr h="56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$48,084.67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$2,33,793.23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637341"/>
                  </a:ext>
                </a:extLst>
              </a:tr>
              <a:tr h="56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$38,195.01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$1,85,708.56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7923991"/>
                  </a:ext>
                </a:extLst>
              </a:tr>
              <a:tr h="56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$30,339.37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$1,47,513.55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808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5CC97AA-2B5A-2140-C628-542648475E6F}"/>
              </a:ext>
            </a:extLst>
          </p:cNvPr>
          <p:cNvSpPr txBox="1"/>
          <p:nvPr/>
        </p:nvSpPr>
        <p:spPr>
          <a:xfrm>
            <a:off x="734143" y="5400056"/>
            <a:ext cx="8409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High depreciation in early years.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9090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9AE22-0161-8E5B-03BF-CBBB3249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245180-442D-F5D3-1130-243E3787C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605639" cy="830997"/>
          </a:xfrm>
        </p:spPr>
        <p:txBody>
          <a:bodyPr/>
          <a:lstStyle/>
          <a:p>
            <a:r>
              <a:rPr lang="en-US" sz="2800" dirty="0">
                <a:highlight>
                  <a:srgbClr val="D9D9D9"/>
                </a:highlight>
              </a:rPr>
              <a:t>Diminishing Balance Results (Later Years)</a:t>
            </a:r>
            <a:endParaRPr lang="en-IN" sz="2800" dirty="0">
              <a:highlight>
                <a:srgbClr val="D9D9D9"/>
              </a:highlight>
            </a:endParaRPr>
          </a:p>
        </p:txBody>
      </p:sp>
      <p:pic>
        <p:nvPicPr>
          <p:cNvPr id="12" name="Picture Placeholder 3" descr="close up of building">
            <a:extLst>
              <a:ext uri="{FF2B5EF4-FFF2-40B4-BE49-F238E27FC236}">
                <a16:creationId xmlns:a16="http://schemas.microsoft.com/office/drawing/2014/main" id="{F09A9EAF-2835-A20A-2E8C-8A12218A7B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44" r="22544"/>
          <a:stretch>
            <a:fillRect/>
          </a:stretch>
        </p:blipFill>
        <p:spPr>
          <a:xfrm>
            <a:off x="7016485" y="732482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3C756A-ACF8-C22F-61B7-F5B0D7CE6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641035"/>
              </p:ext>
            </p:extLst>
          </p:nvPr>
        </p:nvGraphicFramePr>
        <p:xfrm>
          <a:off x="727587" y="1708941"/>
          <a:ext cx="5791200" cy="3389634"/>
        </p:xfrm>
        <a:graphic>
          <a:graphicData uri="http://schemas.openxmlformats.org/drawingml/2006/table">
            <a:tbl>
              <a:tblPr>
                <a:tableStyleId>{8FD4443E-F989-4FC4-A0C8-D5A2AF1F390B}</a:tableStyleId>
              </a:tblPr>
              <a:tblGrid>
                <a:gridCol w="973394">
                  <a:extLst>
                    <a:ext uri="{9D8B030D-6E8A-4147-A177-3AD203B41FA5}">
                      <a16:colId xmlns:a16="http://schemas.microsoft.com/office/drawing/2014/main" val="857439032"/>
                    </a:ext>
                  </a:extLst>
                </a:gridCol>
                <a:gridCol w="2349909">
                  <a:extLst>
                    <a:ext uri="{9D8B030D-6E8A-4147-A177-3AD203B41FA5}">
                      <a16:colId xmlns:a16="http://schemas.microsoft.com/office/drawing/2014/main" val="2545093313"/>
                    </a:ext>
                  </a:extLst>
                </a:gridCol>
                <a:gridCol w="2467897">
                  <a:extLst>
                    <a:ext uri="{9D8B030D-6E8A-4147-A177-3AD203B41FA5}">
                      <a16:colId xmlns:a16="http://schemas.microsoft.com/office/drawing/2014/main" val="3056115581"/>
                    </a:ext>
                  </a:extLst>
                </a:gridCol>
              </a:tblGrid>
              <a:tr h="56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Depreciation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92177"/>
                  </a:ext>
                </a:extLst>
              </a:tr>
              <a:tr h="56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$24,099.42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$1,17,174.18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716574"/>
                  </a:ext>
                </a:extLst>
              </a:tr>
              <a:tr h="56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$19,142.85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$93,074.76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099234"/>
                  </a:ext>
                </a:extLst>
              </a:tr>
              <a:tr h="56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$15,205.71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$73,931.91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637341"/>
                  </a:ext>
                </a:extLst>
              </a:tr>
              <a:tr h="56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$12,078.32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$58,726.20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7923991"/>
                  </a:ext>
                </a:extLst>
              </a:tr>
              <a:tr h="564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$46,647.88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1808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3FA50C5-CDF5-E670-C5E8-FEAB9BB2AAB8}"/>
              </a:ext>
            </a:extLst>
          </p:cNvPr>
          <p:cNvSpPr txBox="1"/>
          <p:nvPr/>
        </p:nvSpPr>
        <p:spPr>
          <a:xfrm>
            <a:off x="734143" y="5400056"/>
            <a:ext cx="8409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1)Depreciation reduces each year.</a:t>
            </a:r>
            <a:br>
              <a:rPr lang="en-US" dirty="0"/>
            </a:br>
            <a:r>
              <a:rPr lang="en-US" dirty="0"/>
              <a:t>2)Book value approaches scrap value gradually.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855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EDAF89-0ECD-416A-93E5-A300FF0B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highlight>
                  <a:srgbClr val="C0C0C0"/>
                </a:highlight>
              </a:rPr>
              <a:t>Numerical Chart Data (Used for Graph)</a:t>
            </a:r>
          </a:p>
        </p:txBody>
      </p:sp>
      <p:graphicFrame>
        <p:nvGraphicFramePr>
          <p:cNvPr id="16" name="Content Placeholder 5" descr="chart">
            <a:extLst>
              <a:ext uri="{FF2B5EF4-FFF2-40B4-BE49-F238E27FC236}">
                <a16:creationId xmlns:a16="http://schemas.microsoft.com/office/drawing/2014/main" id="{BBB34574-6177-4514-8D8E-C0DCBFBE0D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1484855"/>
              </p:ext>
            </p:extLst>
          </p:nvPr>
        </p:nvGraphicFramePr>
        <p:xfrm>
          <a:off x="784225" y="1954646"/>
          <a:ext cx="10623550" cy="408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C45601-EE24-7EE9-EA34-806A6D4D0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931902"/>
              </p:ext>
            </p:extLst>
          </p:nvPr>
        </p:nvGraphicFramePr>
        <p:xfrm>
          <a:off x="883459" y="1811462"/>
          <a:ext cx="10425081" cy="4410144"/>
        </p:xfrm>
        <a:graphic>
          <a:graphicData uri="http://schemas.openxmlformats.org/drawingml/2006/table">
            <a:tbl>
              <a:tblPr>
                <a:tableStyleId>{18603FDC-E32A-4AB5-989C-0864C3EAD2B8}</a:tableStyleId>
              </a:tblPr>
              <a:tblGrid>
                <a:gridCol w="3475027">
                  <a:extLst>
                    <a:ext uri="{9D8B030D-6E8A-4147-A177-3AD203B41FA5}">
                      <a16:colId xmlns:a16="http://schemas.microsoft.com/office/drawing/2014/main" val="2327967745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4146696797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3040301034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Year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Straight-Line Book Value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Diminishing Balance Book Value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3667858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5,00,000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5,00,000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30109654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4,55,000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3,97,164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09453180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4,10,000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2,94,328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50880115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3,65,000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2,33,793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20954684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3,20,000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1,85,709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09110140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2,75,000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1,47,514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16886579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6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2,30,000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1,17,174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406498736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7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1,85,000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93,075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19584797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8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1,40,000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73,932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91478954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9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95,000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58,726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72004323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50,000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46,648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328565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86A9EC-640F-47FB-AA92-2851B3012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highlight>
                  <a:srgbClr val="C0C0C0"/>
                </a:highlight>
              </a:rPr>
              <a:t>Book Value Comparison Chart (Approximate Visual)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2C8ADEB-C707-6685-C9C8-519D575C3F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9546569"/>
              </p:ext>
            </p:extLst>
          </p:nvPr>
        </p:nvGraphicFramePr>
        <p:xfrm>
          <a:off x="1327355" y="1877961"/>
          <a:ext cx="9783097" cy="4001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E1FC-FA61-4E99-C69F-5E339F93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54DE241-4B10-2DAB-F547-0CCD8887F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highlight>
                  <a:srgbClr val="C0C0C0"/>
                </a:highlight>
              </a:rPr>
              <a:t>Key Findings</a:t>
            </a:r>
            <a:endParaRPr lang="en-US" sz="3200" dirty="0">
              <a:highlight>
                <a:srgbClr val="C0C0C0"/>
              </a:highlight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778352-7967-FE6A-CB73-2C6E18DA34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1818968"/>
            <a:ext cx="5966542" cy="3529780"/>
          </a:xfrm>
        </p:spPr>
        <p:txBody>
          <a:bodyPr/>
          <a:lstStyle/>
          <a:p>
            <a:r>
              <a:rPr lang="en-US" sz="1800" dirty="0"/>
              <a:t>Straight-Line gives stable annual expense ($45,000).</a:t>
            </a:r>
          </a:p>
          <a:p>
            <a:r>
              <a:rPr lang="en-US" sz="1800" dirty="0"/>
              <a:t>Diminishing Balance starts with very high depreciation ($1,02,835.88).</a:t>
            </a:r>
          </a:p>
          <a:p>
            <a:r>
              <a:rPr lang="en-US" sz="1800" dirty="0"/>
              <a:t>Early-year profit is lower under Diminishing Balance.</a:t>
            </a:r>
          </a:p>
          <a:p>
            <a:r>
              <a:rPr lang="en-US" sz="1800" dirty="0"/>
              <a:t>Straight-Line fully depreciates to scrap value.</a:t>
            </a:r>
          </a:p>
          <a:p>
            <a:r>
              <a:rPr lang="en-US" sz="1800" dirty="0"/>
              <a:t>Diminishing Balance leaves slight residual difference.</a:t>
            </a:r>
          </a:p>
        </p:txBody>
      </p:sp>
      <p:pic>
        <p:nvPicPr>
          <p:cNvPr id="11" name="Picture Placeholder 10" descr="close up of building">
            <a:extLst>
              <a:ext uri="{FF2B5EF4-FFF2-40B4-BE49-F238E27FC236}">
                <a16:creationId xmlns:a16="http://schemas.microsoft.com/office/drawing/2014/main" id="{E81C7C3D-61A9-97FD-37DE-97748F3DBC3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5351" r="1535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05177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07C14-490C-1A50-409D-25111E976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018C585-38F3-28C0-03FD-41A95A308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highlight>
                  <a:srgbClr val="C0C0C0"/>
                </a:highlight>
              </a:rPr>
              <a:t>Insights</a:t>
            </a:r>
            <a:endParaRPr lang="en-US" sz="3200" dirty="0">
              <a:highlight>
                <a:srgbClr val="C0C0C0"/>
              </a:highlight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3FF702-B950-F00F-E3A5-8E8BEE9EC7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1818968"/>
            <a:ext cx="5966542" cy="3529780"/>
          </a:xfrm>
        </p:spPr>
        <p:txBody>
          <a:bodyPr/>
          <a:lstStyle/>
          <a:p>
            <a:r>
              <a:rPr lang="en-IN" sz="1800" dirty="0"/>
              <a:t>Straight-Line improves income stability.</a:t>
            </a:r>
          </a:p>
          <a:p>
            <a:r>
              <a:rPr lang="en-US" sz="1800" dirty="0"/>
              <a:t>Diminishing Balance improves early tax savings.</a:t>
            </a:r>
          </a:p>
          <a:p>
            <a:r>
              <a:rPr lang="en-US" sz="1800" dirty="0"/>
              <a:t>Accelerated depreciation benefits cash flow in initial years.</a:t>
            </a:r>
          </a:p>
          <a:p>
            <a:r>
              <a:rPr lang="en-US" sz="1800" dirty="0"/>
              <a:t>Businesses with rapidly losing-value assets benefit more from Diminishing Balance.</a:t>
            </a:r>
          </a:p>
        </p:txBody>
      </p:sp>
      <p:pic>
        <p:nvPicPr>
          <p:cNvPr id="11" name="Picture Placeholder 10" descr="close up of building">
            <a:extLst>
              <a:ext uri="{FF2B5EF4-FFF2-40B4-BE49-F238E27FC236}">
                <a16:creationId xmlns:a16="http://schemas.microsoft.com/office/drawing/2014/main" id="{5BE811D1-E3EB-88D1-DE75-0C52876D0F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5351" r="1535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78495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E6D6-C63D-4A7C-B1F1-1E8117B25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5803900" cy="830997"/>
          </a:xfrm>
        </p:spPr>
        <p:txBody>
          <a:bodyPr/>
          <a:lstStyle/>
          <a:p>
            <a:r>
              <a:rPr lang="en-IN" sz="3200" dirty="0">
                <a:highlight>
                  <a:srgbClr val="C0C0C0"/>
                </a:highlight>
              </a:rPr>
              <a:t>Actionable Recommendations</a:t>
            </a:r>
            <a:endParaRPr lang="en-US" sz="3200" dirty="0">
              <a:highlight>
                <a:srgbClr val="C0C0C0"/>
              </a:highlight>
            </a:endParaRPr>
          </a:p>
        </p:txBody>
      </p:sp>
      <p:pic>
        <p:nvPicPr>
          <p:cNvPr id="25" name="Picture Placeholder 4" descr="close up of building">
            <a:extLst>
              <a:ext uri="{FF2B5EF4-FFF2-40B4-BE49-F238E27FC236}">
                <a16:creationId xmlns:a16="http://schemas.microsoft.com/office/drawing/2014/main" id="{B43125FE-4923-4B38-ADD6-3F547696AB1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/>
          <a:srcRect t="10082" b="10082"/>
          <a:stretch/>
        </p:blipFill>
        <p:spPr>
          <a:xfrm>
            <a:off x="9261475" y="0"/>
            <a:ext cx="2930525" cy="1560513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127DC06-E3ED-47AA-A80C-6DC3AB8A23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Choose Straight-Line if: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982E48-3FB5-4F2E-AE87-E5E0838657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Asset usage is consistent.</a:t>
            </a:r>
            <a:br>
              <a:rPr lang="en-US" dirty="0"/>
            </a:br>
            <a:r>
              <a:rPr lang="en-US" dirty="0"/>
              <a:t> </a:t>
            </a:r>
          </a:p>
          <a:p>
            <a:r>
              <a:rPr lang="en-US" dirty="0"/>
              <a:t>Stable financial reporting is required.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2BCCC6-6D52-4984-A92F-8B1A8A9032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/>
              <a:t>Choose Diminishing Balance if: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5E2CA68-BFC9-485F-A53E-F4C27258EF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Asset loses value quickly.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Early tax reduction is preferred.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211F9-A440-D4E7-9331-8BE591EC8AE4}"/>
              </a:ext>
            </a:extLst>
          </p:cNvPr>
          <p:cNvSpPr txBox="1"/>
          <p:nvPr/>
        </p:nvSpPr>
        <p:spPr>
          <a:xfrm>
            <a:off x="647700" y="4630994"/>
            <a:ext cx="9027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Align method with financial and tax strategy.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07378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BBC38-88FA-19BF-31DA-EEC140A32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917A1-18E6-001C-C51B-7280906B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170039"/>
            <a:ext cx="5803900" cy="865238"/>
          </a:xfrm>
        </p:spPr>
        <p:txBody>
          <a:bodyPr/>
          <a:lstStyle/>
          <a:p>
            <a:r>
              <a:rPr lang="en-IN" sz="3200" dirty="0">
                <a:highlight>
                  <a:srgbClr val="C0C0C0"/>
                </a:highlight>
              </a:rPr>
              <a:t>Comparative Summary</a:t>
            </a:r>
            <a:endParaRPr lang="en-US" sz="3200" dirty="0">
              <a:highlight>
                <a:srgbClr val="C0C0C0"/>
              </a:highlight>
            </a:endParaRPr>
          </a:p>
        </p:txBody>
      </p:sp>
      <p:pic>
        <p:nvPicPr>
          <p:cNvPr id="25" name="Picture Placeholder 4" descr="close up of building">
            <a:extLst>
              <a:ext uri="{FF2B5EF4-FFF2-40B4-BE49-F238E27FC236}">
                <a16:creationId xmlns:a16="http://schemas.microsoft.com/office/drawing/2014/main" id="{7D05201D-D375-D9EF-62D2-63FEA7A2715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/>
          <a:srcRect t="10082" b="10082"/>
          <a:stretch/>
        </p:blipFill>
        <p:spPr>
          <a:xfrm>
            <a:off x="9261475" y="0"/>
            <a:ext cx="2930525" cy="1560513"/>
          </a:xfr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516C8D-832F-3CC5-595E-7624DAA9A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654904"/>
              </p:ext>
            </p:extLst>
          </p:nvPr>
        </p:nvGraphicFramePr>
        <p:xfrm>
          <a:off x="838200" y="2222090"/>
          <a:ext cx="10515600" cy="31266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8504117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059608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77421216"/>
                    </a:ext>
                  </a:extLst>
                </a:gridCol>
              </a:tblGrid>
              <a:tr h="521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Straight-Line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Diminishing Balance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773456"/>
                  </a:ext>
                </a:extLst>
              </a:tr>
              <a:tr h="521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Annual Expense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Decreasing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755693"/>
                  </a:ext>
                </a:extLst>
              </a:tr>
              <a:tr h="521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Early Profit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390573"/>
                  </a:ext>
                </a:extLst>
              </a:tr>
              <a:tr h="521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Tax Advantage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 Early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8328847"/>
                  </a:ext>
                </a:extLst>
              </a:tr>
              <a:tr h="521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458347"/>
                  </a:ext>
                </a:extLst>
              </a:tr>
              <a:tr h="521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Buildings, Furniture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Machinery, Tech Assets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808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07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A4448-4930-46E0-AD53-50021D9DC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ighlight>
                  <a:srgbClr val="D9D9D9"/>
                </a:highlight>
              </a:rPr>
              <a:t>Conclusion</a:t>
            </a:r>
            <a:endParaRPr lang="en-US" dirty="0">
              <a:highlight>
                <a:srgbClr val="D9D9D9"/>
              </a:highligh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F6824-E409-4436-9F53-FF50E9FB0C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Both methods are valid and strategic tools. Straight-Line ensures consistency and predictability. Diminishing Balance provides accelerated cost recovery.</a:t>
            </a:r>
          </a:p>
          <a:p>
            <a:r>
              <a:rPr lang="en-US" dirty="0"/>
              <a:t>The right choice depends on </a:t>
            </a:r>
            <a:r>
              <a:rPr lang="en-IN" dirty="0"/>
              <a:t>Asset type, Financial goals, Tax planning strategy.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59C11-3050-4901-B63B-0164B191B9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700" y="5022745"/>
            <a:ext cx="4143375" cy="759470"/>
          </a:xfrm>
        </p:spPr>
        <p:txBody>
          <a:bodyPr/>
          <a:lstStyle/>
          <a:p>
            <a:r>
              <a:rPr lang="en-US" dirty="0"/>
              <a:t>Sudipta Chakraborty</a:t>
            </a:r>
          </a:p>
        </p:txBody>
      </p:sp>
      <p:pic>
        <p:nvPicPr>
          <p:cNvPr id="20" name="Picture Placeholder 8" descr="close up of bridge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17082" r="17082"/>
          <a:stretch/>
        </p:blipFill>
        <p:spPr>
          <a:xfrm>
            <a:off x="5888038" y="533400"/>
            <a:ext cx="5541962" cy="5611813"/>
          </a:xfrm>
        </p:spPr>
      </p:pic>
    </p:spTree>
    <p:extLst>
      <p:ext uri="{BB962C8B-B14F-4D97-AF65-F5344CB8AC3E}">
        <p14:creationId xmlns:p14="http://schemas.microsoft.com/office/powerpoint/2010/main" val="715534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129</TotalTime>
  <Words>577</Words>
  <Application>Microsoft Office PowerPoint</Application>
  <PresentationFormat>Widescreen</PresentationFormat>
  <Paragraphs>168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Lucida Calligraphy</vt:lpstr>
      <vt:lpstr>Wingdings</vt:lpstr>
      <vt:lpstr>Office Theme</vt:lpstr>
      <vt:lpstr>Comparative Analysis of Depreciation Methods:   Straight-Line vs. Diminishing Balance </vt:lpstr>
      <vt:lpstr>Agenda</vt:lpstr>
      <vt:lpstr>Introduction</vt:lpstr>
      <vt:lpstr>Straight-Line Method</vt:lpstr>
      <vt:lpstr>Straight-Line Results</vt:lpstr>
      <vt:lpstr>Diminishing Balance Method</vt:lpstr>
      <vt:lpstr>Diminishing Balance Results (Initial Years)</vt:lpstr>
      <vt:lpstr>Diminishing Balance Results (Later Years)</vt:lpstr>
      <vt:lpstr>Numerical Chart Data (Used for Graph)</vt:lpstr>
      <vt:lpstr>Book Value Comparison Chart (Approximate Visual)</vt:lpstr>
      <vt:lpstr>Key Findings</vt:lpstr>
      <vt:lpstr>Insights</vt:lpstr>
      <vt:lpstr>Actionable Recommendations</vt:lpstr>
      <vt:lpstr>Comparative Summary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Sudipta Chakraborty</dc:creator>
  <cp:lastModifiedBy>Sudipta Chakraborty</cp:lastModifiedBy>
  <cp:revision>3</cp:revision>
  <dcterms:created xsi:type="dcterms:W3CDTF">2026-03-04T11:23:51Z</dcterms:created>
  <dcterms:modified xsi:type="dcterms:W3CDTF">2026-03-04T13:32:57Z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